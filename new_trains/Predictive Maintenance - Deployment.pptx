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76598" y="2114550"/>
            <a:ext cx="38956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Week 7 – Deployment &amp; Final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485" y="2562224"/>
            <a:ext cx="10905852" cy="10953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705"/>
              </a:lnSpc>
              <a:spcBef>
                <a:spcPts val="0"/>
              </a:spcBef>
              <a:spcAft>
                <a:spcPts val="1300"/>
              </a:spcAft>
            </a:pPr>
            <a:r>
              <a:rPr sz="2870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Predictive Maintenance for IT Infrastructure:</a:t>
            </a:r>
            <a:r>
              <a:rPr sz="1104"/>
              <a:t>
</a:t>
            </a:r>
            <a:r>
              <a:rPr sz="2870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Server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85" y="3857625"/>
            <a:ext cx="1090585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674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BSc Design &amp; Computing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82290" cy="1066799"/>
          </a:xfrm>
          <a:prstGeom prst="rect">
            <a:avLst/>
          </a:prstGeom>
          <a:solidFill>
            <a:srgbClr val="FFFFFF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285750"/>
            <a:ext cx="365750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Objective of Week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25336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3921" y="2514600"/>
            <a:ext cx="361940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Deploy trained machine learning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1146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921" y="3095625"/>
            <a:ext cx="297172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Build working prediction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6956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3921" y="3676649"/>
            <a:ext cx="29145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Integrate frontend and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42671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3921" y="4248150"/>
            <a:ext cx="28002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Generate real-time predictions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84822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3921" y="4829175"/>
            <a:ext cx="29145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Display server failure risk 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6442" y="2981325"/>
            <a:ext cx="4095647" cy="1962149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387918" y="3879849"/>
            <a:ext cx="19621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5057" y="3362324"/>
            <a:ext cx="328604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057" y="3705224"/>
            <a:ext cx="328604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"This week focuses on transforming the trained model into a practical deployable application."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715357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Final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47803" y="1485900"/>
            <a:ext cx="3733706" cy="504824"/>
          </a:xfrm>
          <a:prstGeom prst="roundRect">
            <a:avLst>
              <a:gd name="adj" fmla="val 15094"/>
            </a:avLst>
          </a:prstGeom>
          <a:solidFill>
            <a:srgbClr val="F3F4F6"/>
          </a:solidFill>
          <a:ln w="825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47803" y="1485900"/>
            <a:ext cx="3733706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Frontend (Streamlit UI)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95607" y="1981199"/>
            <a:ext cx="19049" cy="23812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47803" y="2228850"/>
            <a:ext cx="3733706" cy="50482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803" y="2228850"/>
            <a:ext cx="3733706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Backend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5607" y="2724150"/>
            <a:ext cx="19049" cy="23812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47803" y="2971800"/>
            <a:ext cx="3733706" cy="50482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7803" y="2971800"/>
            <a:ext cx="3733706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Scaler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95607" y="3467100"/>
            <a:ext cx="19049" cy="23812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47803" y="3714750"/>
            <a:ext cx="3733706" cy="504824"/>
          </a:xfrm>
          <a:prstGeom prst="roundRect">
            <a:avLst>
              <a:gd name="adj" fmla="val 15094"/>
            </a:avLst>
          </a:prstGeom>
          <a:solidFill>
            <a:srgbClr val="F3F4F6"/>
          </a:solidFill>
          <a:ln w="825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803" y="3714750"/>
            <a:ext cx="3733706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Random Forest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5607" y="4210049"/>
            <a:ext cx="19049" cy="23812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47803" y="4457700"/>
            <a:ext cx="3733706" cy="50482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803" y="4457700"/>
            <a:ext cx="3733706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Prediction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5607" y="4952999"/>
            <a:ext cx="19049" cy="23812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47803" y="5200650"/>
            <a:ext cx="3733706" cy="50482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803" y="5200650"/>
            <a:ext cx="3733706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Risk Level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5607" y="5695949"/>
            <a:ext cx="19049" cy="23812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47803" y="5943600"/>
            <a:ext cx="3733706" cy="504824"/>
          </a:xfrm>
          <a:prstGeom prst="roundRect">
            <a:avLst>
              <a:gd name="adj" fmla="val 15094"/>
            </a:avLst>
          </a:prstGeom>
          <a:solidFill>
            <a:srgbClr val="F3F4F6"/>
          </a:solidFill>
          <a:ln w="825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47803" y="5943600"/>
            <a:ext cx="3733706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Output Display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3136" y="2533649"/>
            <a:ext cx="382895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3136" y="2800350"/>
            <a:ext cx="382895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Collects server metrics and user inputs via Streamlit interface.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3136" y="3600450"/>
            <a:ext cx="382895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3136" y="3867149"/>
            <a:ext cx="382895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Handles preprocessing (Scaling) and prediction logic execution.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3136" y="4667249"/>
            <a:ext cx="382895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3136" y="4933950"/>
            <a:ext cx="382895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Random Forest generates failure prediction based on scaled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715357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Backend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590675"/>
            <a:ext cx="380990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19" y="1543050"/>
            <a:ext cx="30098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Load Trained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19" y="1819275"/>
            <a:ext cx="3009824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Initialize Random Forest model from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2971800"/>
            <a:ext cx="380990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19" y="2924175"/>
            <a:ext cx="35622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Load Preprocessing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19" y="3200400"/>
            <a:ext cx="3562260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Import Scaler and Feature Names for data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4352924"/>
            <a:ext cx="380990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19" y="4305300"/>
            <a:ext cx="33241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Preprocess Input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19" y="4581524"/>
            <a:ext cx="3324141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Scale user inputs using loaded scaler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33" y="5734050"/>
            <a:ext cx="380990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19" y="5686425"/>
            <a:ext cx="33717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Generate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19" y="5962650"/>
            <a:ext cx="33717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Execute model inference to produce failure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3551" y="1543050"/>
            <a:ext cx="4438539" cy="4838699"/>
          </a:xfrm>
          <a:prstGeom prst="roundRect">
            <a:avLst>
              <a:gd name="adj" fmla="val 34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9294" y="1971675"/>
            <a:ext cx="386705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Core Files Used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9294" y="2466975"/>
            <a:ext cx="3867053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7038159" y="2658110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10264" y="262699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81730" y="2628900"/>
            <a:ext cx="2114497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Roboto Mono"/>
                <a:rFonts ascii="Roboto Mono" hAnsi="Roboto Mono" eastAsia="Roboto Mono" cs="Roboto Mono"/>
              </a:rPr>
              <a:t>random_forest_model.pkl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9294" y="3171825"/>
            <a:ext cx="3867053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7038159" y="3362960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10264" y="33318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81730" y="3333749"/>
            <a:ext cx="914377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Roboto Mono"/>
                <a:rFonts ascii="Roboto Mono" hAnsi="Roboto Mono" eastAsia="Roboto Mono" cs="Roboto Mono"/>
              </a:rPr>
              <a:t>scaler.pkl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9294" y="3876674"/>
            <a:ext cx="3867053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7038159" y="4067809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10264" y="4036694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81730" y="4038599"/>
            <a:ext cx="1562060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Roboto Mono"/>
                <a:rFonts ascii="Roboto Mono" hAnsi="Roboto Mono" eastAsia="Roboto Mono" cs="Roboto Mono"/>
              </a:rPr>
              <a:t>feature_names.pkl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9294" y="4867274"/>
            <a:ext cx="3867053" cy="1095374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1690" y="5019675"/>
            <a:ext cx="35622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PICKLE SERIALIZATION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1690" y="5238749"/>
            <a:ext cx="3371765" cy="5429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Allows reuse of trained models and preprocessing states without retraining, ensuring consistency between training and deployment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715357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Frontend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543050"/>
            <a:ext cx="5886302" cy="5133975"/>
          </a:xfrm>
          <a:prstGeom prst="roundRect">
            <a:avLst>
              <a:gd name="adj" fmla="val 2968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19189" y="1828800"/>
            <a:ext cx="4381390" cy="4562475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4932" y="2114550"/>
            <a:ext cx="380990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Server Metrics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4932" y="2733674"/>
            <a:ext cx="38099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13131"/>
                </a:solidFill>
                <a:latin typeface="Roboto"/>
                <a:rFonts ascii="Roboto" hAnsi="Roboto" eastAsia="Roboto" cs="Roboto"/>
              </a:rPr>
              <a:t>CPU Usage (%)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4932" y="2962274"/>
            <a:ext cx="3809904" cy="95249"/>
          </a:xfrm>
          <a:prstGeom prst="roundRect">
            <a:avLst>
              <a:gd name="adj" fmla="val 8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04932" y="3105149"/>
            <a:ext cx="3047923" cy="38100"/>
          </a:xfrm>
          <a:prstGeom prst="roundRect">
            <a:avLst>
              <a:gd name="adj" fmla="val 10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8439" y="3028950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F4B4B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4932" y="3333749"/>
            <a:ext cx="38099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13131"/>
                </a:solidFill>
                <a:latin typeface="Roboto"/>
                <a:rFonts ascii="Roboto" hAnsi="Roboto" eastAsia="Roboto" cs="Roboto"/>
              </a:rPr>
              <a:t>Memory Usage (%)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4932" y="3562349"/>
            <a:ext cx="3809904" cy="95249"/>
          </a:xfrm>
          <a:prstGeom prst="roundRect">
            <a:avLst>
              <a:gd name="adj" fmla="val 8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04932" y="3705224"/>
            <a:ext cx="3047923" cy="38100"/>
          </a:xfrm>
          <a:prstGeom prst="roundRect">
            <a:avLst>
              <a:gd name="adj" fmla="val 10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439" y="362902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F4B4B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4932" y="3933824"/>
            <a:ext cx="38099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13131"/>
                </a:solidFill>
                <a:latin typeface="Roboto"/>
                <a:rFonts ascii="Roboto" hAnsi="Roboto" eastAsia="Roboto" cs="Roboto"/>
              </a:rPr>
              <a:t>Disk I/O (MB/s)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4932" y="4162424"/>
            <a:ext cx="3809904" cy="95249"/>
          </a:xfrm>
          <a:prstGeom prst="roundRect">
            <a:avLst>
              <a:gd name="adj" fmla="val 8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04932" y="4305300"/>
            <a:ext cx="3047923" cy="38100"/>
          </a:xfrm>
          <a:prstGeom prst="roundRect">
            <a:avLst>
              <a:gd name="adj" fmla="val 10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439" y="4229100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F4B4B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4932" y="4533900"/>
            <a:ext cx="38099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13131"/>
                </a:solidFill>
                <a:latin typeface="Roboto"/>
                <a:rFonts ascii="Roboto" hAnsi="Roboto" eastAsia="Roboto" cs="Roboto"/>
              </a:rPr>
              <a:t>Network Latency (ms)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04932" y="4762500"/>
            <a:ext cx="3809904" cy="95249"/>
          </a:xfrm>
          <a:prstGeom prst="roundRect">
            <a:avLst>
              <a:gd name="adj" fmla="val 8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04932" y="4905375"/>
            <a:ext cx="3047923" cy="38100"/>
          </a:xfrm>
          <a:prstGeom prst="roundRect">
            <a:avLst>
              <a:gd name="adj" fmla="val 10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38439" y="482917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F4B4B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4932" y="5133975"/>
            <a:ext cx="38099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13131"/>
                </a:solidFill>
                <a:latin typeface="Roboto"/>
                <a:rFonts ascii="Roboto" hAnsi="Roboto" eastAsia="Roboto" cs="Roboto"/>
              </a:rPr>
              <a:t>Error Rate (%)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04932" y="5362575"/>
            <a:ext cx="3809904" cy="95249"/>
          </a:xfrm>
          <a:prstGeom prst="roundRect">
            <a:avLst>
              <a:gd name="adj" fmla="val 8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04932" y="5505450"/>
            <a:ext cx="3047923" cy="38100"/>
          </a:xfrm>
          <a:prstGeom prst="roundRect">
            <a:avLst>
              <a:gd name="adj" fmla="val 100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38439" y="5429250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F4B4B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04932" y="5734050"/>
            <a:ext cx="4000399" cy="371475"/>
          </a:xfrm>
          <a:prstGeom prst="roundRect">
            <a:avLst>
              <a:gd name="adj" fmla="val 20512"/>
            </a:avLst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4932" y="5734050"/>
            <a:ext cx="400039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Predict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521" y="2124075"/>
            <a:ext cx="42575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19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User 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4521" y="2590799"/>
            <a:ext cx="425756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CPU Usage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4521" y="3038475"/>
            <a:ext cx="425756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Memory Usage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4521" y="3486150"/>
            <a:ext cx="425756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Disk I/O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4521" y="3933824"/>
            <a:ext cx="425756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Network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4521" y="4381499"/>
            <a:ext cx="425756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Error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24521" y="5210174"/>
            <a:ext cx="4257568" cy="876299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752412" y="5582283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05492" y="5353049"/>
            <a:ext cx="39337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STREAMLIT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05492" y="5572125"/>
            <a:ext cx="3505112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Simplifies interactive ML deployment with rapid prototyping capabilities and automatic UI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715357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Prediction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2516" y="2257425"/>
            <a:ext cx="1371565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0099" y="1924049"/>
            <a:ext cx="704832" cy="7048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99" y="1924049"/>
            <a:ext cx="704832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37" y="2771775"/>
            <a:ext cx="1676358" cy="1276350"/>
          </a:xfrm>
          <a:prstGeom prst="rect">
            <a:avLst/>
          </a:prstGeom>
          <a:solidFill>
            <a:srgbClr val="FFFFFF"/>
          </a:solidFill>
          <a:ln w="2476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33" y="3133724"/>
            <a:ext cx="13715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362324"/>
            <a:ext cx="13715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User enters server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5052" y="2257425"/>
            <a:ext cx="1371565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52636" y="1924049"/>
            <a:ext cx="704832" cy="7048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636" y="1924049"/>
            <a:ext cx="704832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6398" y="2771775"/>
            <a:ext cx="1676358" cy="1276350"/>
          </a:xfrm>
          <a:prstGeom prst="rect">
            <a:avLst/>
          </a:prstGeom>
          <a:solidFill>
            <a:srgbClr val="FFFFFF"/>
          </a:solidFill>
          <a:ln w="2476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8794" y="3133724"/>
            <a:ext cx="13715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DataFrame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8794" y="3362324"/>
            <a:ext cx="13715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Convert input to DataFrame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7113" y="2257425"/>
            <a:ext cx="1371565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697" y="1924049"/>
            <a:ext cx="704832" cy="7048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697" y="1924049"/>
            <a:ext cx="704832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8934" y="2771775"/>
            <a:ext cx="1676358" cy="1276350"/>
          </a:xfrm>
          <a:prstGeom prst="rect">
            <a:avLst/>
          </a:prstGeom>
          <a:solidFill>
            <a:srgbClr val="FFFFFF"/>
          </a:solidFill>
          <a:ln w="2476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1330" y="3133724"/>
            <a:ext cx="13715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1330" y="3362324"/>
            <a:ext cx="13715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Apply feature scaling to input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9649" y="2257425"/>
            <a:ext cx="1371565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7233" y="1924049"/>
            <a:ext cx="704832" cy="7048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7233" y="1924049"/>
            <a:ext cx="704832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90995" y="2771775"/>
            <a:ext cx="1676358" cy="1276350"/>
          </a:xfrm>
          <a:prstGeom prst="rect">
            <a:avLst/>
          </a:prstGeom>
          <a:solidFill>
            <a:srgbClr val="FFFFFF"/>
          </a:solidFill>
          <a:ln w="2476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3391" y="3133724"/>
            <a:ext cx="13715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Model 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3391" y="3362324"/>
            <a:ext cx="13715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Load trained Random Forest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1710" y="2257425"/>
            <a:ext cx="1371565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29294" y="1924049"/>
            <a:ext cx="704832" cy="7048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9294" y="1924049"/>
            <a:ext cx="704832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3531" y="2771775"/>
            <a:ext cx="1676358" cy="1276350"/>
          </a:xfrm>
          <a:prstGeom prst="rect">
            <a:avLst/>
          </a:prstGeom>
          <a:solidFill>
            <a:srgbClr val="FFFFFF"/>
          </a:solidFill>
          <a:ln w="2476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5927" y="3133724"/>
            <a:ext cx="13715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5927" y="3362324"/>
            <a:ext cx="13715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Generate failure prediction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3771" y="2257425"/>
            <a:ext cx="1371565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91355" y="1924049"/>
            <a:ext cx="704832" cy="7048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1355" y="1924049"/>
            <a:ext cx="704832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05592" y="2771775"/>
            <a:ext cx="1676358" cy="1276350"/>
          </a:xfrm>
          <a:prstGeom prst="rect">
            <a:avLst/>
          </a:prstGeom>
          <a:solidFill>
            <a:srgbClr val="FFFFFF"/>
          </a:solidFill>
          <a:ln w="2476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7988" y="3133724"/>
            <a:ext cx="13715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Risk Calc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7988" y="3362324"/>
            <a:ext cx="13715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Calculate risk level classification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43891" y="1924049"/>
            <a:ext cx="704832" cy="7048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651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43891" y="1924049"/>
            <a:ext cx="704832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58128" y="2771775"/>
            <a:ext cx="1676358" cy="1276350"/>
          </a:xfrm>
          <a:prstGeom prst="rect">
            <a:avLst/>
          </a:prstGeom>
          <a:solidFill>
            <a:srgbClr val="FFFFFF"/>
          </a:solidFill>
          <a:ln w="2476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0524" y="3133724"/>
            <a:ext cx="137156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0524" y="3362324"/>
            <a:ext cx="137156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Display prediction and risk level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6733" y="5572125"/>
            <a:ext cx="10715357" cy="8096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344471" y="5894387"/>
            <a:ext cx="8096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4852" y="5848350"/>
            <a:ext cx="857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ℹ️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1070" y="5762625"/>
            <a:ext cx="863895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Pipeline Consistency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1070" y="6010274"/>
            <a:ext cx="8638959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The same preprocessing pipeline from training is reused during deployment to ensure data consistency and prediction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715357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Output Display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2305049"/>
            <a:ext cx="50766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System Displays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847974"/>
            <a:ext cx="507669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Prediction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3219449"/>
            <a:ext cx="507669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Probability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3590924"/>
            <a:ext cx="507669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Risk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4343400"/>
            <a:ext cx="50766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2600"/>
              </a:spcBef>
              <a:spcAft>
                <a:spcPts val="1625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Risk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5267324"/>
            <a:ext cx="590535" cy="352424"/>
          </a:xfrm>
          <a:prstGeom prst="roundRect">
            <a:avLst>
              <a:gd name="adj" fmla="val 21621"/>
            </a:avLst>
          </a:prstGeom>
          <a:solidFill>
            <a:srgbClr val="065F46">
              <a:alpha val="5000"/>
            </a:srgbClr>
          </a:solidFill>
          <a:ln w="8255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33" y="5267324"/>
            <a:ext cx="59053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65F46"/>
                </a:solidFill>
                <a:latin typeface="Roboto"/>
                <a:rFonts ascii="Roboto" hAnsi="Roboto" eastAsia="Roboto" cs="Roboto"/>
              </a:rPr>
              <a:t>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00139" y="5267324"/>
            <a:ext cx="866753" cy="352424"/>
          </a:xfrm>
          <a:prstGeom prst="roundRect">
            <a:avLst>
              <a:gd name="adj" fmla="val 21621"/>
            </a:avLst>
          </a:prstGeom>
          <a:solidFill>
            <a:srgbClr val="92400E">
              <a:alpha val="5000"/>
            </a:srgbClr>
          </a:solidFill>
          <a:ln w="8255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0139" y="5267324"/>
            <a:ext cx="866753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2400E"/>
                </a:solidFill>
                <a:latin typeface="Roboto"/>
                <a:rFonts ascii="Roboto" hAnsi="Roboto" eastAsia="Roboto" cs="Roboto"/>
              </a:rPr>
              <a:t>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0239" y="5267324"/>
            <a:ext cx="619109" cy="352424"/>
          </a:xfrm>
          <a:prstGeom prst="roundRect">
            <a:avLst>
              <a:gd name="adj" fmla="val 21621"/>
            </a:avLst>
          </a:prstGeom>
          <a:solidFill>
            <a:srgbClr val="991B1B">
              <a:alpha val="5000"/>
            </a:srgbClr>
          </a:solidFill>
          <a:ln w="8255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239" y="5267324"/>
            <a:ext cx="61910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91B1B"/>
                </a:solidFill>
                <a:latin typeface="Roboto"/>
                <a:rFonts ascii="Roboto" hAnsi="Roboto" eastAsia="Roboto" cs="Roboto"/>
              </a:rP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7788" y="2152650"/>
            <a:ext cx="4781430" cy="3619499"/>
          </a:xfrm>
          <a:prstGeom prst="roundRect">
            <a:avLst>
              <a:gd name="adj" fmla="val 4210"/>
            </a:avLst>
          </a:prstGeom>
          <a:solidFill>
            <a:srgbClr val="F3F4F6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7808" y="2324100"/>
            <a:ext cx="1676358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Server Health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48663" y="2305049"/>
            <a:ext cx="590535" cy="228600"/>
          </a:xfrm>
          <a:prstGeom prst="roundRect">
            <a:avLst>
              <a:gd name="adj" fmla="val 33333"/>
            </a:avLst>
          </a:prstGeom>
          <a:solidFill>
            <a:srgbClr val="991B1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48663" y="2305049"/>
            <a:ext cx="5905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91B1B"/>
                </a:solidFill>
                <a:latin typeface="Roboto"/>
                <a:rFonts ascii="Roboto" hAnsi="Roboto" eastAsia="Roboto" cs="Roboto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2185" y="2971800"/>
            <a:ext cx="254311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991B1B"/>
                </a:solidFill>
                <a:latin typeface="Roboto"/>
                <a:rFonts ascii="Roboto" hAnsi="Roboto" eastAsia="Roboto" cs="Roboto"/>
              </a:rPr>
              <a:t>Failure Risk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2760" y="3924299"/>
            <a:ext cx="57148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91%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6087" y="4286250"/>
            <a:ext cx="695307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Probability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7313" y="5057775"/>
            <a:ext cx="4762380" cy="419100"/>
          </a:xfrm>
          <a:prstGeom prst="roundRect">
            <a:avLst>
              <a:gd name="adj" fmla="val 18181"/>
            </a:avLst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7313" y="5057775"/>
            <a:ext cx="4762380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High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715357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Final Model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543050"/>
            <a:ext cx="5505312" cy="4410074"/>
          </a:xfrm>
          <a:prstGeom prst="roundRect">
            <a:avLst>
              <a:gd name="adj" fmla="val 3455"/>
            </a:avLst>
          </a:prstGeom>
          <a:solidFill>
            <a:srgbClr val="F3F4F6"/>
          </a:solidFill>
          <a:ln w="412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723" y="1971675"/>
            <a:ext cx="1990675" cy="22860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23" y="1971675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71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Selected for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" y="2295525"/>
            <a:ext cx="474333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23" y="3076574"/>
            <a:ext cx="4743331" cy="4381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10B981"/>
                </a:solidFill>
                <a:latin typeface="Roboto"/>
                <a:rFonts ascii="Roboto" hAnsi="Roboto" eastAsia="Roboto" cs="Roboto"/>
              </a:rPr>
              <a:t>✓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Balanced Performance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Optimal trade-off between precision and recall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" y="3705224"/>
            <a:ext cx="4743331" cy="4381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10B981"/>
                </a:solidFill>
                <a:latin typeface="Roboto"/>
                <a:rFonts ascii="Roboto" hAnsi="Roboto" eastAsia="Roboto" cs="Roboto"/>
              </a:rPr>
              <a:t>✓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Strong Recall &amp; F1-Score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Effectively identifies true failure cases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4324349"/>
            <a:ext cx="4743331" cy="4381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10B981"/>
                </a:solidFill>
                <a:latin typeface="Roboto"/>
                <a:rFonts ascii="Roboto" hAnsi="Roboto" eastAsia="Roboto" cs="Roboto"/>
              </a:rPr>
              <a:t>✓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Stable Predictions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Low variance compared to single trees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4952999"/>
            <a:ext cx="4743331" cy="4381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10B981"/>
                </a:solidFill>
                <a:latin typeface="Roboto"/>
                <a:rFonts ascii="Roboto" hAnsi="Roboto" eastAsia="Roboto" cs="Roboto"/>
              </a:rPr>
              <a:t>✓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Tabular Data Suitability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Native handling of infrastructure metrics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8283" y="1733550"/>
            <a:ext cx="4743331" cy="1666874"/>
          </a:xfrm>
          <a:prstGeom prst="rect">
            <a:avLst/>
          </a:prstGeom>
          <a:solidFill>
            <a:srgbClr val="FFFFFF"/>
          </a:solidFill>
          <a:ln w="412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2125" y="2028825"/>
            <a:ext cx="411469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Deep Learning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125" y="2371725"/>
            <a:ext cx="4114697" cy="733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While capable of temporal learning (LSTM), performance was affected by dataset imbalance, leading to overfitting on minority failure classes.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8283" y="3686175"/>
            <a:ext cx="4743331" cy="1114425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8779" y="3886200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8779" y="4086225"/>
            <a:ext cx="4343291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Random Forest provides the most reliable and robust predictions for this infrastructure dataset, making it the preferred choice for the production environment.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715357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Merriweather"/>
                <a:rFonts ascii="Merriweather" hAnsi="Merriweather" eastAsia="Merriweather" cs="Merriweather"/>
              </a:rPr>
              <a:t>Final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552700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2552700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22" y="2533649"/>
            <a:ext cx="454331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End-to-end predictive maintenance system 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124200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33" y="3124200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22" y="3105149"/>
            <a:ext cx="529576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Machine learning integrated successfully into deployable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981449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33" y="398144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22" y="3962399"/>
            <a:ext cx="36384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Real-time server failure prediction achieved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552949"/>
            <a:ext cx="228594" cy="2286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33" y="455294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22" y="4533900"/>
            <a:ext cx="529576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Explainable and deployment-ready intelligent system developed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076" y="2752725"/>
            <a:ext cx="4429014" cy="2419349"/>
          </a:xfrm>
          <a:prstGeom prst="roundRect">
            <a:avLst>
              <a:gd name="adj" fmla="val 6299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5825952" y="3879849"/>
            <a:ext cx="24193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6442" y="3038475"/>
            <a:ext cx="380990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1E3A8A"/>
                </a:solidFill>
                <a:latin typeface="Roboto"/>
                <a:rFonts ascii="Roboto" hAnsi="Roboto" eastAsia="Roboto" cs="Roboto"/>
              </a:rPr>
              <a:t>Complete AI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6442" y="3429000"/>
            <a:ext cx="1609684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6442" y="3429000"/>
            <a:ext cx="1609684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Data Collection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6462" y="35814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38999" y="3429000"/>
            <a:ext cx="1552536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8999" y="3429000"/>
            <a:ext cx="1552536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Preprocessing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9019" y="35814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86442" y="3962399"/>
            <a:ext cx="1790655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6442" y="3962399"/>
            <a:ext cx="1790655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Machine Learning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6462" y="41148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19969" y="3962399"/>
            <a:ext cx="1552536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9969" y="3962399"/>
            <a:ext cx="1552536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Deep Learning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9989" y="41148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86442" y="4495799"/>
            <a:ext cx="1476338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6442" y="4495799"/>
            <a:ext cx="1476338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Explainability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6462" y="46482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05652" y="4495799"/>
            <a:ext cx="1390615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652" y="4495799"/>
            <a:ext cx="1390615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05672" y="4648200"/>
            <a:ext cx="76198" cy="76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{"Label":"1","ContentProducer":"001191110108MA01KP2T5U00000","ProduceID":"dbe5e76a2f12e5a1fc348ac135203037","ReservedCode1":"","ContentPropagator":"001191110108MA01KP2T5U00000","PropagateID":"dbe5e76a2f12e5a1fc348ac135203037","ReservedCode2":""}</vt:lpwstr>
  </property>
</Properties>
</file>